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ed Hat Display SemiBold"/>
      <p:regular r:id="rId14"/>
      <p:bold r:id="rId15"/>
      <p:italic r:id="rId16"/>
      <p:boldItalic r:id="rId17"/>
    </p:embeddedFont>
    <p:embeddedFont>
      <p:font typeface="Red Hat Display Medium"/>
      <p:regular r:id="rId18"/>
      <p:bold r:id="rId19"/>
      <p:italic r:id="rId20"/>
      <p:boldItalic r:id="rId21"/>
    </p:embeddedFont>
    <p:embeddedFont>
      <p:font typeface="Red Hat Display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Medium-italic.fntdata"/><Relationship Id="rId22" Type="http://schemas.openxmlformats.org/officeDocument/2006/relationships/font" Target="fonts/RedHatDisplay-regular.fntdata"/><Relationship Id="rId21" Type="http://schemas.openxmlformats.org/officeDocument/2006/relationships/font" Target="fonts/RedHatDisplayMedium-boldItalic.fntdata"/><Relationship Id="rId24" Type="http://schemas.openxmlformats.org/officeDocument/2006/relationships/font" Target="fonts/RedHatDisplay-italic.fntdata"/><Relationship Id="rId23" Type="http://schemas.openxmlformats.org/officeDocument/2006/relationships/font" Target="fonts/RedHatDis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edHat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edHatDisplaySemiBold-bold.fntdata"/><Relationship Id="rId14" Type="http://schemas.openxmlformats.org/officeDocument/2006/relationships/font" Target="fonts/RedHatDisplaySemiBold-regular.fntdata"/><Relationship Id="rId17" Type="http://schemas.openxmlformats.org/officeDocument/2006/relationships/font" Target="fonts/RedHatDisplaySemiBold-boldItalic.fntdata"/><Relationship Id="rId16" Type="http://schemas.openxmlformats.org/officeDocument/2006/relationships/font" Target="fonts/RedHatDisplaySemiBold-italic.fntdata"/><Relationship Id="rId19" Type="http://schemas.openxmlformats.org/officeDocument/2006/relationships/font" Target="fonts/RedHatDisplayMedium-bold.fntdata"/><Relationship Id="rId18" Type="http://schemas.openxmlformats.org/officeDocument/2006/relationships/font" Target="fonts/RedHatDisplay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7045cb45c7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7045cb45c7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7045cb45c7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7045cb45c7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7045cb45c7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7045cb45c7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7045cb45c7_0_1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7045cb45c7_0_1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7156a15c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7156a15c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636684a16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636684a16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7045cb45c7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7045cb45c7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7045cb45c7_0_1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7045cb45c7_0_1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/>
          <p:nvPr>
            <p:ph type="title"/>
          </p:nvPr>
        </p:nvSpPr>
        <p:spPr>
          <a:xfrm>
            <a:off x="259050" y="2207719"/>
            <a:ext cx="5760900" cy="205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5G Edge Cloud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Applications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4"/>
          <p:cNvSpPr/>
          <p:nvPr/>
        </p:nvSpPr>
        <p:spPr>
          <a:xfrm>
            <a:off x="386600" y="2688950"/>
            <a:ext cx="1444500" cy="79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4" name="Google Shape;554;p44"/>
          <p:cNvSpPr/>
          <p:nvPr/>
        </p:nvSpPr>
        <p:spPr>
          <a:xfrm>
            <a:off x="2197134" y="2688950"/>
            <a:ext cx="1444500" cy="79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1003772" y="2043300"/>
            <a:ext cx="822300" cy="8958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2807872" y="2043300"/>
            <a:ext cx="822300" cy="8958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7" name="Google Shape;557;p44"/>
          <p:cNvSpPr txBox="1"/>
          <p:nvPr>
            <p:ph type="title"/>
          </p:nvPr>
        </p:nvSpPr>
        <p:spPr>
          <a:xfrm>
            <a:off x="432825" y="392167"/>
            <a:ext cx="64803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558" name="Google Shape;558;p44"/>
          <p:cNvSpPr txBox="1"/>
          <p:nvPr>
            <p:ph idx="1" type="subTitle"/>
          </p:nvPr>
        </p:nvSpPr>
        <p:spPr>
          <a:xfrm>
            <a:off x="490925" y="292560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Rahul Rajkumar</a:t>
            </a:r>
            <a:endParaRPr/>
          </a:p>
        </p:txBody>
      </p:sp>
      <p:sp>
        <p:nvSpPr>
          <p:cNvPr id="559" name="Google Shape;559;p44"/>
          <p:cNvSpPr txBox="1"/>
          <p:nvPr>
            <p:ph idx="8" type="subTitle"/>
          </p:nvPr>
        </p:nvSpPr>
        <p:spPr>
          <a:xfrm>
            <a:off x="2296088" y="292560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Andrew </a:t>
            </a:r>
            <a:r>
              <a:rPr lang="en"/>
              <a:t>Michael</a:t>
            </a:r>
            <a:endParaRPr/>
          </a:p>
        </p:txBody>
      </p:sp>
      <p:pic>
        <p:nvPicPr>
          <p:cNvPr id="560" name="Google Shape;560;p44"/>
          <p:cNvPicPr preferRelativeResize="0"/>
          <p:nvPr/>
        </p:nvPicPr>
        <p:blipFill>
          <a:blip r:embed="rId3">
            <a:alphaModFix amt="97000"/>
          </a:blip>
          <a:stretch>
            <a:fillRect/>
          </a:stretch>
        </p:blipFill>
        <p:spPr>
          <a:xfrm>
            <a:off x="386448" y="1262301"/>
            <a:ext cx="1444500" cy="14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125" y="1262150"/>
            <a:ext cx="1444500" cy="14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Objective</a:t>
            </a:r>
            <a:endParaRPr/>
          </a:p>
        </p:txBody>
      </p:sp>
      <p:sp>
        <p:nvSpPr>
          <p:cNvPr id="567" name="Google Shape;567;p4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Creating benchmarks for Edge Platforms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Aiding the scheduler in assigning tasks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6"/>
          <p:cNvSpPr/>
          <p:nvPr/>
        </p:nvSpPr>
        <p:spPr>
          <a:xfrm>
            <a:off x="1344100" y="1565850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3" name="Google Shape;573;p46"/>
          <p:cNvSpPr/>
          <p:nvPr/>
        </p:nvSpPr>
        <p:spPr>
          <a:xfrm>
            <a:off x="3205050" y="3151025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4" name="Google Shape;574;p46"/>
          <p:cNvSpPr/>
          <p:nvPr/>
        </p:nvSpPr>
        <p:spPr>
          <a:xfrm>
            <a:off x="5330850" y="1565850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5" name="Google Shape;575;p46"/>
          <p:cNvSpPr/>
          <p:nvPr/>
        </p:nvSpPr>
        <p:spPr>
          <a:xfrm>
            <a:off x="4618950" y="1565850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6" name="Google Shape;576;p46"/>
          <p:cNvSpPr/>
          <p:nvPr/>
        </p:nvSpPr>
        <p:spPr>
          <a:xfrm>
            <a:off x="632200" y="1572600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7" name="Google Shape;577;p46"/>
          <p:cNvSpPr/>
          <p:nvPr/>
        </p:nvSpPr>
        <p:spPr>
          <a:xfrm>
            <a:off x="2493150" y="3157775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8" name="Google Shape;578;p46"/>
          <p:cNvSpPr txBox="1"/>
          <p:nvPr>
            <p:ph type="title"/>
          </p:nvPr>
        </p:nvSpPr>
        <p:spPr>
          <a:xfrm>
            <a:off x="609600" y="496225"/>
            <a:ext cx="51210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</a:t>
            </a:r>
            <a:endParaRPr/>
          </a:p>
        </p:txBody>
      </p:sp>
      <p:sp>
        <p:nvSpPr>
          <p:cNvPr id="579" name="Google Shape;579;p46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80" name="Google Shape;580;p46"/>
          <p:cNvSpPr txBox="1"/>
          <p:nvPr>
            <p:ph idx="3" type="subTitle"/>
          </p:nvPr>
        </p:nvSpPr>
        <p:spPr>
          <a:xfrm>
            <a:off x="4623750" y="181380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81" name="Google Shape;581;p46"/>
          <p:cNvSpPr txBox="1"/>
          <p:nvPr>
            <p:ph idx="4" type="subTitle"/>
          </p:nvPr>
        </p:nvSpPr>
        <p:spPr>
          <a:xfrm>
            <a:off x="2497950" y="3405725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82" name="Google Shape;582;p46"/>
          <p:cNvSpPr txBox="1"/>
          <p:nvPr>
            <p:ph idx="6" type="subTitle"/>
          </p:nvPr>
        </p:nvSpPr>
        <p:spPr>
          <a:xfrm>
            <a:off x="1546000" y="18840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Ran more extensive tests for more data</a:t>
            </a:r>
            <a:endParaRPr sz="1400"/>
          </a:p>
        </p:txBody>
      </p:sp>
      <p:sp>
        <p:nvSpPr>
          <p:cNvPr id="583" name="Google Shape;583;p46"/>
          <p:cNvSpPr txBox="1"/>
          <p:nvPr>
            <p:ph idx="8" type="subTitle"/>
          </p:nvPr>
        </p:nvSpPr>
        <p:spPr>
          <a:xfrm>
            <a:off x="3406950" y="339300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Scrapped our DL model and went to simpler ML algorithm to find optimized weights</a:t>
            </a:r>
            <a:endParaRPr sz="1400"/>
          </a:p>
        </p:txBody>
      </p:sp>
      <p:sp>
        <p:nvSpPr>
          <p:cNvPr id="584" name="Google Shape;584;p46"/>
          <p:cNvSpPr txBox="1"/>
          <p:nvPr>
            <p:ph idx="7" type="subTitle"/>
          </p:nvPr>
        </p:nvSpPr>
        <p:spPr>
          <a:xfrm>
            <a:off x="553275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Began concluding observations and training DL model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7"/>
          <p:cNvSpPr txBox="1"/>
          <p:nvPr>
            <p:ph type="title"/>
          </p:nvPr>
        </p:nvSpPr>
        <p:spPr>
          <a:xfrm>
            <a:off x="228600" y="420017"/>
            <a:ext cx="64803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Lasso?</a:t>
            </a:r>
            <a:endParaRPr/>
          </a:p>
        </p:txBody>
      </p:sp>
      <p:sp>
        <p:nvSpPr>
          <p:cNvPr id="590" name="Google Shape;590;p47"/>
          <p:cNvSpPr txBox="1"/>
          <p:nvPr>
            <p:ph idx="2" type="subTitle"/>
          </p:nvPr>
        </p:nvSpPr>
        <p:spPr>
          <a:xfrm>
            <a:off x="327600" y="1229300"/>
            <a:ext cx="5448300" cy="2796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-16281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ed Hat Display"/>
              <a:buChar char="➔"/>
            </a:pPr>
            <a:r>
              <a:rPr lang="en" sz="1700"/>
              <a:t>Lasso helps find the </a:t>
            </a:r>
            <a:r>
              <a:rPr lang="en" sz="1700"/>
              <a:t>optimum</a:t>
            </a:r>
            <a:r>
              <a:rPr lang="en" sz="1700"/>
              <a:t> weights associated with each metric</a:t>
            </a:r>
            <a:endParaRPr sz="1700"/>
          </a:p>
          <a:p>
            <a:pPr indent="0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16281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ed Hat Display"/>
              <a:buChar char="➔"/>
            </a:pPr>
            <a:r>
              <a:rPr lang="en" sz="1700"/>
              <a:t>Lasso is good because it reduces </a:t>
            </a:r>
            <a:r>
              <a:rPr lang="en" sz="1700"/>
              <a:t>coefficients</a:t>
            </a:r>
            <a:r>
              <a:rPr lang="en" sz="1700"/>
              <a:t> to zero</a:t>
            </a:r>
            <a:endParaRPr sz="1700"/>
          </a:p>
          <a:p>
            <a:pPr indent="0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162814" lvl="0" marL="19202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Red Hat Display"/>
              <a:buChar char="➔"/>
            </a:pPr>
            <a:r>
              <a:rPr lang="en" sz="1700"/>
              <a:t>Weights represent trade-off for low response time</a:t>
            </a:r>
            <a:endParaRPr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/>
          <p:nvPr>
            <p:ph type="title"/>
          </p:nvPr>
        </p:nvSpPr>
        <p:spPr>
          <a:xfrm>
            <a:off x="228600" y="420017"/>
            <a:ext cx="64803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Extraction &amp; Selection</a:t>
            </a:r>
            <a:endParaRPr/>
          </a:p>
        </p:txBody>
      </p:sp>
      <p:pic>
        <p:nvPicPr>
          <p:cNvPr id="596" name="Google Shape;59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002100"/>
            <a:ext cx="3091450" cy="262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2475" y="881725"/>
            <a:ext cx="3874001" cy="387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34874" y="296998"/>
            <a:ext cx="3206626" cy="319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9"/>
          <p:cNvSpPr/>
          <p:nvPr/>
        </p:nvSpPr>
        <p:spPr>
          <a:xfrm>
            <a:off x="228600" y="1459125"/>
            <a:ext cx="3129900" cy="2638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Concluding numeric benchmarks</a:t>
            </a:r>
            <a:endParaRPr sz="25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4" name="Google Shape;604;p49"/>
          <p:cNvSpPr txBox="1"/>
          <p:nvPr>
            <p:ph type="title"/>
          </p:nvPr>
        </p:nvSpPr>
        <p:spPr>
          <a:xfrm>
            <a:off x="228600" y="420017"/>
            <a:ext cx="64803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Upcoming</a:t>
            </a:r>
            <a:endParaRPr/>
          </a:p>
        </p:txBody>
      </p:sp>
      <p:sp>
        <p:nvSpPr>
          <p:cNvPr id="605" name="Google Shape;605;p49"/>
          <p:cNvSpPr txBox="1"/>
          <p:nvPr/>
        </p:nvSpPr>
        <p:spPr>
          <a:xfrm>
            <a:off x="3477300" y="2001250"/>
            <a:ext cx="241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6" name="Google Shape;606;p49"/>
          <p:cNvSpPr/>
          <p:nvPr/>
        </p:nvSpPr>
        <p:spPr>
          <a:xfrm>
            <a:off x="3358500" y="1459115"/>
            <a:ext cx="2834700" cy="2638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Clean up our codebase to for </a:t>
            </a:r>
            <a:r>
              <a:rPr lang="en" sz="2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reproducibility</a:t>
            </a:r>
            <a:r>
              <a:rPr lang="en" sz="2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endParaRPr sz="25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0"/>
          <p:cNvSpPr txBox="1"/>
          <p:nvPr>
            <p:ph type="title"/>
          </p:nvPr>
        </p:nvSpPr>
        <p:spPr>
          <a:xfrm>
            <a:off x="2563500" y="32902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 u="sng"/>
              <a:t>THANK YOU</a:t>
            </a:r>
            <a:endParaRPr b="1" sz="8000" u="sng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